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35999738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48" autoAdjust="0"/>
    <p:restoredTop sz="94068" autoAdjust="0"/>
  </p:normalViewPr>
  <p:slideViewPr>
    <p:cSldViewPr snapToGrid="0">
      <p:cViewPr varScale="1">
        <p:scale>
          <a:sx n="19" d="100"/>
          <a:sy n="19" d="100"/>
        </p:scale>
        <p:origin x="24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5891626"/>
            <a:ext cx="30599777" cy="12533242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8908198"/>
            <a:ext cx="26999804" cy="8691601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C054-C805-49A2-8CDF-AD4EE467A5CD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9C804-D7F7-4FAD-B652-8C8811D6D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062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C054-C805-49A2-8CDF-AD4EE467A5CD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9C804-D7F7-4FAD-B652-8C8811D6D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4321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8974945"/>
            <a:ext cx="31049774" cy="14974888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24091502"/>
            <a:ext cx="31049774" cy="7874940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/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75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75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C054-C805-49A2-8CDF-AD4EE467A5CD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9C804-D7F7-4FAD-B652-8C8811D6D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0009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9583264"/>
            <a:ext cx="15299889" cy="2284150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9583264"/>
            <a:ext cx="15299889" cy="2284150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C054-C805-49A2-8CDF-AD4EE467A5CD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9C804-D7F7-4FAD-B652-8C8811D6D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38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916661"/>
            <a:ext cx="31049774" cy="695828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8824938"/>
            <a:ext cx="15229574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13149904"/>
            <a:ext cx="15229574" cy="1934152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8824938"/>
            <a:ext cx="15304578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13149904"/>
            <a:ext cx="15304578" cy="1934152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C054-C805-49A2-8CDF-AD4EE467A5CD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9C804-D7F7-4FAD-B652-8C8811D6D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1709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C054-C805-49A2-8CDF-AD4EE467A5CD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9C804-D7F7-4FAD-B652-8C8811D6D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512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C054-C805-49A2-8CDF-AD4EE467A5CD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9C804-D7F7-4FAD-B652-8C8811D6D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076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5183304"/>
            <a:ext cx="18224867" cy="25583147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C054-C805-49A2-8CDF-AD4EE467A5CD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9C804-D7F7-4FAD-B652-8C8811D6D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527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5183304"/>
            <a:ext cx="18224867" cy="25583147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C054-C805-49A2-8CDF-AD4EE467A5CD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9C804-D7F7-4FAD-B652-8C8811D6D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5871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C054-C805-49A2-8CDF-AD4EE467A5CD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9C804-D7F7-4FAD-B652-8C8811D6D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8769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916653"/>
            <a:ext cx="7762444" cy="3050811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916653"/>
            <a:ext cx="22837334" cy="3050811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5C054-C805-49A2-8CDF-AD4EE467A5CD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9C804-D7F7-4FAD-B652-8C8811D6D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7597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916661"/>
            <a:ext cx="31049774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9583264"/>
            <a:ext cx="31049774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5C054-C805-49A2-8CDF-AD4EE467A5CD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33366432"/>
            <a:ext cx="1214991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9C804-D7F7-4FAD-B652-8C8811D6D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5668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599993" rtl="0" eaLnBrk="1" latinLnBrk="0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549DB2A-A671-BDE9-D9C8-484E3E055696}"/>
              </a:ext>
            </a:extLst>
          </p:cNvPr>
          <p:cNvSpPr/>
          <p:nvPr/>
        </p:nvSpPr>
        <p:spPr>
          <a:xfrm>
            <a:off x="441945" y="2295992"/>
            <a:ext cx="2103120" cy="103327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Century Gothic" panose="020B0502020202020204" pitchFamily="34" charset="0"/>
              </a:rPr>
              <a:t>IA </a:t>
            </a:r>
          </a:p>
          <a:p>
            <a:pPr algn="ctr"/>
            <a:r>
              <a:rPr lang="fr-FR" dirty="0">
                <a:latin typeface="Century Gothic" panose="020B0502020202020204" pitchFamily="34" charset="0"/>
              </a:rPr>
              <a:t>MANAGER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EBAF33F-9F37-9FF0-D179-9A836467A7D1}"/>
              </a:ext>
            </a:extLst>
          </p:cNvPr>
          <p:cNvSpPr/>
          <p:nvPr/>
        </p:nvSpPr>
        <p:spPr>
          <a:xfrm>
            <a:off x="441945" y="284312"/>
            <a:ext cx="2103120" cy="89001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Century Gothic" panose="020B0502020202020204" pitchFamily="34" charset="0"/>
              </a:rPr>
              <a:t>UTILISATEUR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7AB7F956-A349-3FEE-6B71-6AF899B5A882}"/>
              </a:ext>
            </a:extLst>
          </p:cNvPr>
          <p:cNvCxnSpPr>
            <a:stCxn id="6" idx="2"/>
            <a:endCxn id="5" idx="0"/>
          </p:cNvCxnSpPr>
          <p:nvPr/>
        </p:nvCxnSpPr>
        <p:spPr>
          <a:xfrm>
            <a:off x="1493505" y="1174328"/>
            <a:ext cx="0" cy="11216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58DB4C23-F31F-13E4-3C73-160B4BD94579}"/>
              </a:ext>
            </a:extLst>
          </p:cNvPr>
          <p:cNvSpPr txBox="1"/>
          <p:nvPr/>
        </p:nvSpPr>
        <p:spPr>
          <a:xfrm flipH="1">
            <a:off x="1493505" y="1581271"/>
            <a:ext cx="1316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📡DEMANDE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405F924-B4A6-4037-840C-D4CC814C6889}"/>
              </a:ext>
            </a:extLst>
          </p:cNvPr>
          <p:cNvSpPr/>
          <p:nvPr/>
        </p:nvSpPr>
        <p:spPr>
          <a:xfrm>
            <a:off x="429245" y="4553417"/>
            <a:ext cx="2103120" cy="103327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Cadrage du projet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2E03ABB1-4FEC-A729-2361-956C1E3D0F80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flipH="1">
            <a:off x="1480805" y="3329264"/>
            <a:ext cx="12700" cy="122415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93621281-AE90-FF34-001E-5B695275395B}"/>
              </a:ext>
            </a:extLst>
          </p:cNvPr>
          <p:cNvSpPr/>
          <p:nvPr/>
        </p:nvSpPr>
        <p:spPr>
          <a:xfrm>
            <a:off x="7951780" y="7596119"/>
            <a:ext cx="2103120" cy="103327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Century Gothic" panose="020B0502020202020204" pitchFamily="34" charset="0"/>
              </a:rPr>
              <a:t>IA </a:t>
            </a:r>
          </a:p>
          <a:p>
            <a:pPr algn="ctr"/>
            <a:r>
              <a:rPr lang="fr-FR" dirty="0">
                <a:latin typeface="Century Gothic" panose="020B0502020202020204" pitchFamily="34" charset="0"/>
              </a:rPr>
              <a:t>SPECIALISEES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24FC076C-E210-1CA8-7944-0CFEA3EE0561}"/>
              </a:ext>
            </a:extLst>
          </p:cNvPr>
          <p:cNvCxnSpPr>
            <a:cxnSpLocks/>
            <a:stCxn id="30" idx="2"/>
            <a:endCxn id="15" idx="0"/>
          </p:cNvCxnSpPr>
          <p:nvPr/>
        </p:nvCxnSpPr>
        <p:spPr>
          <a:xfrm>
            <a:off x="9003340" y="6377497"/>
            <a:ext cx="0" cy="12186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 : en angle 19">
            <a:extLst>
              <a:ext uri="{FF2B5EF4-FFF2-40B4-BE49-F238E27FC236}">
                <a16:creationId xmlns:a16="http://schemas.microsoft.com/office/drawing/2014/main" id="{79EB707F-DB0D-8CA6-2434-2B45621325C9}"/>
              </a:ext>
            </a:extLst>
          </p:cNvPr>
          <p:cNvCxnSpPr>
            <a:cxnSpLocks/>
            <a:stCxn id="24" idx="2"/>
            <a:endCxn id="15" idx="1"/>
          </p:cNvCxnSpPr>
          <p:nvPr/>
        </p:nvCxnSpPr>
        <p:spPr>
          <a:xfrm rot="16200000" flipH="1">
            <a:off x="5030599" y="5191574"/>
            <a:ext cx="2526066" cy="3316295"/>
          </a:xfrm>
          <a:prstGeom prst="bentConnector2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6C1D38EE-769A-AF6E-B182-4424D067C584}"/>
              </a:ext>
            </a:extLst>
          </p:cNvPr>
          <p:cNvSpPr/>
          <p:nvPr/>
        </p:nvSpPr>
        <p:spPr>
          <a:xfrm>
            <a:off x="3583925" y="4553417"/>
            <a:ext cx="2103120" cy="103327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Century Gothic" panose="020B0502020202020204" pitchFamily="34" charset="0"/>
              </a:rPr>
              <a:t>IA </a:t>
            </a:r>
          </a:p>
          <a:p>
            <a:pPr algn="ctr"/>
            <a:r>
              <a:rPr lang="fr-FR" dirty="0">
                <a:latin typeface="Century Gothic" panose="020B0502020202020204" pitchFamily="34" charset="0"/>
              </a:rPr>
              <a:t>MANAGER</a:t>
            </a:r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1DE9276A-BC0F-0CFC-2736-E2328324FBED}"/>
              </a:ext>
            </a:extLst>
          </p:cNvPr>
          <p:cNvCxnSpPr>
            <a:cxnSpLocks/>
            <a:stCxn id="11" idx="3"/>
            <a:endCxn id="24" idx="1"/>
          </p:cNvCxnSpPr>
          <p:nvPr/>
        </p:nvCxnSpPr>
        <p:spPr>
          <a:xfrm>
            <a:off x="2532365" y="5070053"/>
            <a:ext cx="105156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B32A421F-0792-235E-9DC0-4046E75AD29E}"/>
              </a:ext>
            </a:extLst>
          </p:cNvPr>
          <p:cNvSpPr/>
          <p:nvPr/>
        </p:nvSpPr>
        <p:spPr>
          <a:xfrm>
            <a:off x="7319630" y="3762608"/>
            <a:ext cx="3367420" cy="2614889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fr-FR" sz="200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Note de Cadrage MD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Définir le problème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l’objectif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le périmètre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les contraintes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les parties prenantes et le résultat attendu.</a:t>
            </a:r>
          </a:p>
        </p:txBody>
      </p: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7F7F69CD-1133-5071-3881-34902F7208F9}"/>
              </a:ext>
            </a:extLst>
          </p:cNvPr>
          <p:cNvCxnSpPr>
            <a:cxnSpLocks/>
            <a:stCxn id="24" idx="3"/>
            <a:endCxn id="30" idx="1"/>
          </p:cNvCxnSpPr>
          <p:nvPr/>
        </p:nvCxnSpPr>
        <p:spPr>
          <a:xfrm>
            <a:off x="5687045" y="5070053"/>
            <a:ext cx="163258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1EFAC726-B412-E056-F3DA-64699F0DE0B4}"/>
              </a:ext>
            </a:extLst>
          </p:cNvPr>
          <p:cNvSpPr/>
          <p:nvPr/>
        </p:nvSpPr>
        <p:spPr>
          <a:xfrm>
            <a:off x="441945" y="9720193"/>
            <a:ext cx="2103120" cy="103327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Etude de faisabilité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BD5EDB46-C396-9E58-1A28-771047A244DA}"/>
              </a:ext>
            </a:extLst>
          </p:cNvPr>
          <p:cNvSpPr txBox="1"/>
          <p:nvPr/>
        </p:nvSpPr>
        <p:spPr>
          <a:xfrm flipH="1">
            <a:off x="9217011" y="6832919"/>
            <a:ext cx="1403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📡DETERMINE</a:t>
            </a:r>
          </a:p>
        </p:txBody>
      </p: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46B494CA-B534-BE81-D05A-9D8F7FDE6FBA}"/>
              </a:ext>
            </a:extLst>
          </p:cNvPr>
          <p:cNvCxnSpPr>
            <a:cxnSpLocks/>
            <a:stCxn id="11" idx="2"/>
            <a:endCxn id="42" idx="0"/>
          </p:cNvCxnSpPr>
          <p:nvPr/>
        </p:nvCxnSpPr>
        <p:spPr>
          <a:xfrm>
            <a:off x="1480805" y="5586689"/>
            <a:ext cx="12700" cy="41335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eur : en angle 47">
            <a:extLst>
              <a:ext uri="{FF2B5EF4-FFF2-40B4-BE49-F238E27FC236}">
                <a16:creationId xmlns:a16="http://schemas.microsoft.com/office/drawing/2014/main" id="{B3F9FEFC-123F-C01D-F1F0-6F2880288669}"/>
              </a:ext>
            </a:extLst>
          </p:cNvPr>
          <p:cNvCxnSpPr>
            <a:cxnSpLocks/>
            <a:stCxn id="30" idx="0"/>
            <a:endCxn id="6" idx="3"/>
          </p:cNvCxnSpPr>
          <p:nvPr/>
        </p:nvCxnSpPr>
        <p:spPr>
          <a:xfrm rot="16200000" flipV="1">
            <a:off x="4257559" y="-983174"/>
            <a:ext cx="3033288" cy="6458275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ZoneTexte 50">
            <a:extLst>
              <a:ext uri="{FF2B5EF4-FFF2-40B4-BE49-F238E27FC236}">
                <a16:creationId xmlns:a16="http://schemas.microsoft.com/office/drawing/2014/main" id="{47BC5B15-84A0-1802-29F4-C687F57E7B50}"/>
              </a:ext>
            </a:extLst>
          </p:cNvPr>
          <p:cNvSpPr txBox="1"/>
          <p:nvPr/>
        </p:nvSpPr>
        <p:spPr>
          <a:xfrm flipH="1">
            <a:off x="9019326" y="2142103"/>
            <a:ext cx="1601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📡VALIDATION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2A8E899B-D3AE-A28B-7A0C-F7523136D1B7}"/>
              </a:ext>
            </a:extLst>
          </p:cNvPr>
          <p:cNvSpPr/>
          <p:nvPr/>
        </p:nvSpPr>
        <p:spPr>
          <a:xfrm>
            <a:off x="10620374" y="8929384"/>
            <a:ext cx="3367420" cy="2614889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fr-FR" sz="2000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Note de faisabilité MD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Réaliste Y/N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Technique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Financier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Humain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Juridique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Temporel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DEA00264-77CE-264D-0321-4291CE213BC7}"/>
              </a:ext>
            </a:extLst>
          </p:cNvPr>
          <p:cNvSpPr txBox="1"/>
          <p:nvPr/>
        </p:nvSpPr>
        <p:spPr>
          <a:xfrm flipH="1">
            <a:off x="4421813" y="6826888"/>
            <a:ext cx="1651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📡DONNE AVIS</a:t>
            </a:r>
          </a:p>
        </p:txBody>
      </p: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4BEB3F8D-7509-169D-DB59-D6781091A9C4}"/>
              </a:ext>
            </a:extLst>
          </p:cNvPr>
          <p:cNvCxnSpPr>
            <a:cxnSpLocks/>
            <a:stCxn id="42" idx="3"/>
            <a:endCxn id="52" idx="1"/>
          </p:cNvCxnSpPr>
          <p:nvPr/>
        </p:nvCxnSpPr>
        <p:spPr>
          <a:xfrm>
            <a:off x="2545065" y="10236829"/>
            <a:ext cx="807530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E679B0A7-5F97-367C-C212-03A873E7E328}"/>
              </a:ext>
            </a:extLst>
          </p:cNvPr>
          <p:cNvSpPr/>
          <p:nvPr/>
        </p:nvSpPr>
        <p:spPr>
          <a:xfrm>
            <a:off x="441945" y="11634717"/>
            <a:ext cx="2103120" cy="103327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Century Gothic" panose="020B0502020202020204" pitchFamily="34" charset="0"/>
              </a:rPr>
              <a:t>IA </a:t>
            </a:r>
          </a:p>
          <a:p>
            <a:pPr algn="ctr"/>
            <a:r>
              <a:rPr lang="fr-FR" dirty="0">
                <a:latin typeface="Century Gothic" panose="020B0502020202020204" pitchFamily="34" charset="0"/>
              </a:rPr>
              <a:t>MANAGER</a:t>
            </a:r>
          </a:p>
        </p:txBody>
      </p: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63492F87-0422-C864-7FFB-ABE507BF3BF6}"/>
              </a:ext>
            </a:extLst>
          </p:cNvPr>
          <p:cNvCxnSpPr>
            <a:cxnSpLocks/>
            <a:stCxn id="42" idx="2"/>
            <a:endCxn id="59" idx="0"/>
          </p:cNvCxnSpPr>
          <p:nvPr/>
        </p:nvCxnSpPr>
        <p:spPr>
          <a:xfrm>
            <a:off x="1493505" y="10753465"/>
            <a:ext cx="0" cy="8812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Rectangle : coins arrondis 62">
            <a:extLst>
              <a:ext uri="{FF2B5EF4-FFF2-40B4-BE49-F238E27FC236}">
                <a16:creationId xmlns:a16="http://schemas.microsoft.com/office/drawing/2014/main" id="{75C1D789-CAF1-ADF5-757B-C0D737F8C7B2}"/>
              </a:ext>
            </a:extLst>
          </p:cNvPr>
          <p:cNvSpPr/>
          <p:nvPr/>
        </p:nvSpPr>
        <p:spPr>
          <a:xfrm>
            <a:off x="429245" y="13549241"/>
            <a:ext cx="2103120" cy="103327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Objectifs &amp; Livrables</a:t>
            </a:r>
          </a:p>
        </p:txBody>
      </p:sp>
      <p:cxnSp>
        <p:nvCxnSpPr>
          <p:cNvPr id="64" name="Connecteur droit avec flèche 63">
            <a:extLst>
              <a:ext uri="{FF2B5EF4-FFF2-40B4-BE49-F238E27FC236}">
                <a16:creationId xmlns:a16="http://schemas.microsoft.com/office/drawing/2014/main" id="{9A6ACBA4-513C-E8A3-D72C-089C9A1AF13D}"/>
              </a:ext>
            </a:extLst>
          </p:cNvPr>
          <p:cNvCxnSpPr>
            <a:cxnSpLocks/>
            <a:stCxn id="59" idx="2"/>
            <a:endCxn id="63" idx="0"/>
          </p:cNvCxnSpPr>
          <p:nvPr/>
        </p:nvCxnSpPr>
        <p:spPr>
          <a:xfrm flipH="1">
            <a:off x="1480805" y="12667989"/>
            <a:ext cx="12700" cy="8812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ZoneTexte 66">
            <a:extLst>
              <a:ext uri="{FF2B5EF4-FFF2-40B4-BE49-F238E27FC236}">
                <a16:creationId xmlns:a16="http://schemas.microsoft.com/office/drawing/2014/main" id="{B493FD9D-9AE1-F2EB-D03B-ED6BDE17B754}"/>
              </a:ext>
            </a:extLst>
          </p:cNvPr>
          <p:cNvSpPr txBox="1"/>
          <p:nvPr/>
        </p:nvSpPr>
        <p:spPr>
          <a:xfrm flipH="1">
            <a:off x="1480804" y="12954726"/>
            <a:ext cx="1449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📡DETERMINE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9A4AE518-0641-F1B3-369A-5B518148D5F7}"/>
              </a:ext>
            </a:extLst>
          </p:cNvPr>
          <p:cNvSpPr txBox="1"/>
          <p:nvPr/>
        </p:nvSpPr>
        <p:spPr>
          <a:xfrm flipH="1">
            <a:off x="1427014" y="11019854"/>
            <a:ext cx="1716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📡ANALYSE</a:t>
            </a:r>
          </a:p>
        </p:txBody>
      </p:sp>
      <p:cxnSp>
        <p:nvCxnSpPr>
          <p:cNvPr id="69" name="Connecteur : en angle 68">
            <a:extLst>
              <a:ext uri="{FF2B5EF4-FFF2-40B4-BE49-F238E27FC236}">
                <a16:creationId xmlns:a16="http://schemas.microsoft.com/office/drawing/2014/main" id="{42422DC5-7593-F1D6-374D-031A6B5F0B99}"/>
              </a:ext>
            </a:extLst>
          </p:cNvPr>
          <p:cNvCxnSpPr>
            <a:cxnSpLocks/>
            <a:stCxn id="63" idx="3"/>
            <a:endCxn id="15" idx="2"/>
          </p:cNvCxnSpPr>
          <p:nvPr/>
        </p:nvCxnSpPr>
        <p:spPr>
          <a:xfrm flipV="1">
            <a:off x="2532365" y="8629391"/>
            <a:ext cx="6470975" cy="5436486"/>
          </a:xfrm>
          <a:prstGeom prst="bentConnector2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necteur : en angle 71">
            <a:extLst>
              <a:ext uri="{FF2B5EF4-FFF2-40B4-BE49-F238E27FC236}">
                <a16:creationId xmlns:a16="http://schemas.microsoft.com/office/drawing/2014/main" id="{4A3736D7-BD31-48D5-53CC-4222146075F2}"/>
              </a:ext>
            </a:extLst>
          </p:cNvPr>
          <p:cNvCxnSpPr>
            <a:cxnSpLocks/>
            <a:stCxn id="63" idx="3"/>
            <a:endCxn id="52" idx="2"/>
          </p:cNvCxnSpPr>
          <p:nvPr/>
        </p:nvCxnSpPr>
        <p:spPr>
          <a:xfrm flipV="1">
            <a:off x="2532365" y="11544273"/>
            <a:ext cx="9771719" cy="2521604"/>
          </a:xfrm>
          <a:prstGeom prst="bentConnector2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Rectangle : coins arrondis 74">
            <a:extLst>
              <a:ext uri="{FF2B5EF4-FFF2-40B4-BE49-F238E27FC236}">
                <a16:creationId xmlns:a16="http://schemas.microsoft.com/office/drawing/2014/main" id="{A38FECC2-E878-6805-FD47-4205E7606BDB}"/>
              </a:ext>
            </a:extLst>
          </p:cNvPr>
          <p:cNvSpPr/>
          <p:nvPr/>
        </p:nvSpPr>
        <p:spPr>
          <a:xfrm>
            <a:off x="441945" y="15828381"/>
            <a:ext cx="2103120" cy="1033272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Objectif SMART</a:t>
            </a:r>
          </a:p>
        </p:txBody>
      </p: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23406DE7-BACF-9A23-389E-AB67F4AB47C2}"/>
              </a:ext>
            </a:extLst>
          </p:cNvPr>
          <p:cNvCxnSpPr>
            <a:cxnSpLocks/>
            <a:stCxn id="63" idx="2"/>
            <a:endCxn id="75" idx="0"/>
          </p:cNvCxnSpPr>
          <p:nvPr/>
        </p:nvCxnSpPr>
        <p:spPr>
          <a:xfrm>
            <a:off x="1480805" y="14582513"/>
            <a:ext cx="12700" cy="12458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7B8191D0-7BEB-D026-C870-732D5C8D7DF0}"/>
              </a:ext>
            </a:extLst>
          </p:cNvPr>
          <p:cNvCxnSpPr>
            <a:cxnSpLocks/>
            <a:stCxn id="75" idx="3"/>
          </p:cNvCxnSpPr>
          <p:nvPr/>
        </p:nvCxnSpPr>
        <p:spPr>
          <a:xfrm>
            <a:off x="2545065" y="16345017"/>
            <a:ext cx="136336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Connecteur : en angle 82">
            <a:extLst>
              <a:ext uri="{FF2B5EF4-FFF2-40B4-BE49-F238E27FC236}">
                <a16:creationId xmlns:a16="http://schemas.microsoft.com/office/drawing/2014/main" id="{62046FB9-ECC0-23A9-C640-A43F2BE9650B}"/>
              </a:ext>
            </a:extLst>
          </p:cNvPr>
          <p:cNvCxnSpPr>
            <a:cxnSpLocks/>
            <a:stCxn id="52" idx="0"/>
            <a:endCxn id="15" idx="3"/>
          </p:cNvCxnSpPr>
          <p:nvPr/>
        </p:nvCxnSpPr>
        <p:spPr>
          <a:xfrm rot="16200000" flipV="1">
            <a:off x="10771178" y="7396478"/>
            <a:ext cx="816629" cy="2249184"/>
          </a:xfrm>
          <a:prstGeom prst="bentConnector2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1FA73B9D-A5B9-CA61-B22D-D459913DEAC3}"/>
              </a:ext>
            </a:extLst>
          </p:cNvPr>
          <p:cNvSpPr txBox="1"/>
          <p:nvPr/>
        </p:nvSpPr>
        <p:spPr>
          <a:xfrm flipH="1">
            <a:off x="10687050" y="7700549"/>
            <a:ext cx="1651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📡DONNE AVIS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4042553C-AC81-AF02-CB18-9FE300256D75}"/>
              </a:ext>
            </a:extLst>
          </p:cNvPr>
          <p:cNvSpPr txBox="1"/>
          <p:nvPr/>
        </p:nvSpPr>
        <p:spPr>
          <a:xfrm flipH="1">
            <a:off x="12235650" y="12631258"/>
            <a:ext cx="1651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📡DONNE AVIS</a:t>
            </a:r>
          </a:p>
        </p:txBody>
      </p:sp>
      <p:sp>
        <p:nvSpPr>
          <p:cNvPr id="89" name="Rectangle : coins arrondis 88">
            <a:extLst>
              <a:ext uri="{FF2B5EF4-FFF2-40B4-BE49-F238E27FC236}">
                <a16:creationId xmlns:a16="http://schemas.microsoft.com/office/drawing/2014/main" id="{FE5E2E6E-FAEA-FB79-6958-FF47B95292FD}"/>
              </a:ext>
            </a:extLst>
          </p:cNvPr>
          <p:cNvSpPr/>
          <p:nvPr/>
        </p:nvSpPr>
        <p:spPr>
          <a:xfrm>
            <a:off x="3908426" y="15828381"/>
            <a:ext cx="2103120" cy="1033272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Liste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LIVRABLES</a:t>
            </a:r>
          </a:p>
        </p:txBody>
      </p:sp>
      <p:sp>
        <p:nvSpPr>
          <p:cNvPr id="90" name="Rectangle : coins arrondis 89">
            <a:extLst>
              <a:ext uri="{FF2B5EF4-FFF2-40B4-BE49-F238E27FC236}">
                <a16:creationId xmlns:a16="http://schemas.microsoft.com/office/drawing/2014/main" id="{404968B6-B731-A7E2-3951-89E748E5470D}"/>
              </a:ext>
            </a:extLst>
          </p:cNvPr>
          <p:cNvSpPr/>
          <p:nvPr/>
        </p:nvSpPr>
        <p:spPr>
          <a:xfrm>
            <a:off x="7374907" y="15828381"/>
            <a:ext cx="2103120" cy="1033272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Planning</a:t>
            </a:r>
          </a:p>
        </p:txBody>
      </p:sp>
      <p:cxnSp>
        <p:nvCxnSpPr>
          <p:cNvPr id="91" name="Connecteur droit avec flèche 90">
            <a:extLst>
              <a:ext uri="{FF2B5EF4-FFF2-40B4-BE49-F238E27FC236}">
                <a16:creationId xmlns:a16="http://schemas.microsoft.com/office/drawing/2014/main" id="{CB2BEBC5-EFD7-6E0B-FC74-221B0E902293}"/>
              </a:ext>
            </a:extLst>
          </p:cNvPr>
          <p:cNvCxnSpPr>
            <a:cxnSpLocks/>
            <a:stCxn id="89" idx="3"/>
          </p:cNvCxnSpPr>
          <p:nvPr/>
        </p:nvCxnSpPr>
        <p:spPr>
          <a:xfrm>
            <a:off x="6011546" y="16345017"/>
            <a:ext cx="130808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Rectangle : coins arrondis 93">
            <a:extLst>
              <a:ext uri="{FF2B5EF4-FFF2-40B4-BE49-F238E27FC236}">
                <a16:creationId xmlns:a16="http://schemas.microsoft.com/office/drawing/2014/main" id="{83C3779F-2D9C-C39F-585F-B83B8C4887BB}"/>
              </a:ext>
            </a:extLst>
          </p:cNvPr>
          <p:cNvSpPr/>
          <p:nvPr/>
        </p:nvSpPr>
        <p:spPr>
          <a:xfrm>
            <a:off x="7374907" y="14430493"/>
            <a:ext cx="2103120" cy="1033272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Tâches</a:t>
            </a:r>
          </a:p>
        </p:txBody>
      </p:sp>
      <p:sp>
        <p:nvSpPr>
          <p:cNvPr id="95" name="Rectangle : coins arrondis 94">
            <a:extLst>
              <a:ext uri="{FF2B5EF4-FFF2-40B4-BE49-F238E27FC236}">
                <a16:creationId xmlns:a16="http://schemas.microsoft.com/office/drawing/2014/main" id="{8BC84984-B6E6-78E5-B0B2-3DAC620E28BC}"/>
              </a:ext>
            </a:extLst>
          </p:cNvPr>
          <p:cNvSpPr/>
          <p:nvPr/>
        </p:nvSpPr>
        <p:spPr>
          <a:xfrm>
            <a:off x="7374907" y="17226269"/>
            <a:ext cx="2103120" cy="1033272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Attribution</a:t>
            </a:r>
          </a:p>
        </p:txBody>
      </p:sp>
      <p:sp>
        <p:nvSpPr>
          <p:cNvPr id="96" name="Rectangle : coins arrondis 95">
            <a:extLst>
              <a:ext uri="{FF2B5EF4-FFF2-40B4-BE49-F238E27FC236}">
                <a16:creationId xmlns:a16="http://schemas.microsoft.com/office/drawing/2014/main" id="{48DAA366-ED55-4002-7717-2E897BEAD13D}"/>
              </a:ext>
            </a:extLst>
          </p:cNvPr>
          <p:cNvSpPr/>
          <p:nvPr/>
        </p:nvSpPr>
        <p:spPr>
          <a:xfrm>
            <a:off x="10461464" y="14430493"/>
            <a:ext cx="2103120" cy="103327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Century Gothic" panose="020B0502020202020204" pitchFamily="34" charset="0"/>
              </a:rPr>
              <a:t>IA </a:t>
            </a:r>
          </a:p>
          <a:p>
            <a:pPr algn="ctr"/>
            <a:r>
              <a:rPr lang="fr-FR" dirty="0">
                <a:latin typeface="Century Gothic" panose="020B0502020202020204" pitchFamily="34" charset="0"/>
              </a:rPr>
              <a:t>MANAGER</a:t>
            </a:r>
          </a:p>
        </p:txBody>
      </p:sp>
      <p:sp>
        <p:nvSpPr>
          <p:cNvPr id="97" name="Rectangle : coins arrondis 96">
            <a:extLst>
              <a:ext uri="{FF2B5EF4-FFF2-40B4-BE49-F238E27FC236}">
                <a16:creationId xmlns:a16="http://schemas.microsoft.com/office/drawing/2014/main" id="{C3EBC96D-9B22-5082-04EC-28F594319AAD}"/>
              </a:ext>
            </a:extLst>
          </p:cNvPr>
          <p:cNvSpPr/>
          <p:nvPr/>
        </p:nvSpPr>
        <p:spPr>
          <a:xfrm>
            <a:off x="13548021" y="14430493"/>
            <a:ext cx="2103120" cy="103327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Tâches assignées</a:t>
            </a:r>
          </a:p>
        </p:txBody>
      </p:sp>
      <p:cxnSp>
        <p:nvCxnSpPr>
          <p:cNvPr id="98" name="Connecteur droit avec flèche 97">
            <a:extLst>
              <a:ext uri="{FF2B5EF4-FFF2-40B4-BE49-F238E27FC236}">
                <a16:creationId xmlns:a16="http://schemas.microsoft.com/office/drawing/2014/main" id="{82AF4169-5BAA-5756-2CC5-056412215103}"/>
              </a:ext>
            </a:extLst>
          </p:cNvPr>
          <p:cNvCxnSpPr>
            <a:cxnSpLocks/>
            <a:stCxn id="94" idx="3"/>
            <a:endCxn id="96" idx="1"/>
          </p:cNvCxnSpPr>
          <p:nvPr/>
        </p:nvCxnSpPr>
        <p:spPr>
          <a:xfrm>
            <a:off x="9478027" y="14947129"/>
            <a:ext cx="98343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Connecteur droit avec flèche 100">
            <a:extLst>
              <a:ext uri="{FF2B5EF4-FFF2-40B4-BE49-F238E27FC236}">
                <a16:creationId xmlns:a16="http://schemas.microsoft.com/office/drawing/2014/main" id="{A4703A58-83C3-59AE-11DA-5E5FF1FE8C70}"/>
              </a:ext>
            </a:extLst>
          </p:cNvPr>
          <p:cNvCxnSpPr>
            <a:cxnSpLocks/>
            <a:stCxn id="96" idx="3"/>
            <a:endCxn id="97" idx="1"/>
          </p:cNvCxnSpPr>
          <p:nvPr/>
        </p:nvCxnSpPr>
        <p:spPr>
          <a:xfrm>
            <a:off x="12564584" y="14947129"/>
            <a:ext cx="98343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Connecteur : en angle 103">
            <a:extLst>
              <a:ext uri="{FF2B5EF4-FFF2-40B4-BE49-F238E27FC236}">
                <a16:creationId xmlns:a16="http://schemas.microsoft.com/office/drawing/2014/main" id="{0F1EEA4D-5377-1414-F063-6E4095EFE9D8}"/>
              </a:ext>
            </a:extLst>
          </p:cNvPr>
          <p:cNvCxnSpPr>
            <a:cxnSpLocks/>
            <a:stCxn id="94" idx="1"/>
            <a:endCxn id="89" idx="0"/>
          </p:cNvCxnSpPr>
          <p:nvPr/>
        </p:nvCxnSpPr>
        <p:spPr>
          <a:xfrm rot="10800000" flipV="1">
            <a:off x="4959987" y="14947129"/>
            <a:ext cx="2414921" cy="881252"/>
          </a:xfrm>
          <a:prstGeom prst="bentConnector2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Connecteur : en angle 106">
            <a:extLst>
              <a:ext uri="{FF2B5EF4-FFF2-40B4-BE49-F238E27FC236}">
                <a16:creationId xmlns:a16="http://schemas.microsoft.com/office/drawing/2014/main" id="{3DA8EBEB-F642-3A2C-45B0-B8436C892884}"/>
              </a:ext>
            </a:extLst>
          </p:cNvPr>
          <p:cNvCxnSpPr>
            <a:cxnSpLocks/>
            <a:stCxn id="95" idx="1"/>
            <a:endCxn id="89" idx="2"/>
          </p:cNvCxnSpPr>
          <p:nvPr/>
        </p:nvCxnSpPr>
        <p:spPr>
          <a:xfrm rot="10800000">
            <a:off x="4959987" y="16861653"/>
            <a:ext cx="2414921" cy="881252"/>
          </a:xfrm>
          <a:prstGeom prst="bentConnector2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Rectangle : coins arrondis 111">
            <a:extLst>
              <a:ext uri="{FF2B5EF4-FFF2-40B4-BE49-F238E27FC236}">
                <a16:creationId xmlns:a16="http://schemas.microsoft.com/office/drawing/2014/main" id="{FDD34360-4CF1-1467-52C9-8072EBF32317}"/>
              </a:ext>
            </a:extLst>
          </p:cNvPr>
          <p:cNvSpPr/>
          <p:nvPr/>
        </p:nvSpPr>
        <p:spPr>
          <a:xfrm>
            <a:off x="10461464" y="15828381"/>
            <a:ext cx="2103120" cy="103327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Century Gothic" panose="020B0502020202020204" pitchFamily="34" charset="0"/>
              </a:rPr>
              <a:t>IA </a:t>
            </a:r>
          </a:p>
          <a:p>
            <a:pPr algn="ctr"/>
            <a:r>
              <a:rPr lang="fr-FR" dirty="0">
                <a:latin typeface="Century Gothic" panose="020B0502020202020204" pitchFamily="34" charset="0"/>
              </a:rPr>
              <a:t>MANAGER</a:t>
            </a:r>
          </a:p>
        </p:txBody>
      </p:sp>
      <p:cxnSp>
        <p:nvCxnSpPr>
          <p:cNvPr id="113" name="Connecteur droit avec flèche 112">
            <a:extLst>
              <a:ext uri="{FF2B5EF4-FFF2-40B4-BE49-F238E27FC236}">
                <a16:creationId xmlns:a16="http://schemas.microsoft.com/office/drawing/2014/main" id="{08143753-AD48-DF80-2FCD-CFD5EDB732B7}"/>
              </a:ext>
            </a:extLst>
          </p:cNvPr>
          <p:cNvCxnSpPr>
            <a:cxnSpLocks/>
            <a:stCxn id="90" idx="3"/>
            <a:endCxn id="112" idx="1"/>
          </p:cNvCxnSpPr>
          <p:nvPr/>
        </p:nvCxnSpPr>
        <p:spPr>
          <a:xfrm>
            <a:off x="9478027" y="16345017"/>
            <a:ext cx="98343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Connecteur droit avec flèche 113">
            <a:extLst>
              <a:ext uri="{FF2B5EF4-FFF2-40B4-BE49-F238E27FC236}">
                <a16:creationId xmlns:a16="http://schemas.microsoft.com/office/drawing/2014/main" id="{3F1C89CC-E5F3-C6ED-553C-3D2D2146D27F}"/>
              </a:ext>
            </a:extLst>
          </p:cNvPr>
          <p:cNvCxnSpPr>
            <a:cxnSpLocks/>
            <a:stCxn id="112" idx="3"/>
          </p:cNvCxnSpPr>
          <p:nvPr/>
        </p:nvCxnSpPr>
        <p:spPr>
          <a:xfrm>
            <a:off x="12564584" y="16345017"/>
            <a:ext cx="98343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Rectangle : coins arrondis 115">
            <a:extLst>
              <a:ext uri="{FF2B5EF4-FFF2-40B4-BE49-F238E27FC236}">
                <a16:creationId xmlns:a16="http://schemas.microsoft.com/office/drawing/2014/main" id="{4001119E-474A-63CB-3E15-5F0889C8056F}"/>
              </a:ext>
            </a:extLst>
          </p:cNvPr>
          <p:cNvSpPr/>
          <p:nvPr/>
        </p:nvSpPr>
        <p:spPr>
          <a:xfrm>
            <a:off x="13548021" y="15825255"/>
            <a:ext cx="2103120" cy="103327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Mise a jour du </a:t>
            </a:r>
            <a:r>
              <a:rPr lang="fr-FR" dirty="0" err="1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planing</a:t>
            </a:r>
            <a:endParaRPr lang="fr-FR" dirty="0">
              <a:solidFill>
                <a:sysClr val="windowText" lastClr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17" name="Rectangle : coins arrondis 116">
            <a:extLst>
              <a:ext uri="{FF2B5EF4-FFF2-40B4-BE49-F238E27FC236}">
                <a16:creationId xmlns:a16="http://schemas.microsoft.com/office/drawing/2014/main" id="{16E2DC7B-B6C4-3FAC-7456-52C4617706F9}"/>
              </a:ext>
            </a:extLst>
          </p:cNvPr>
          <p:cNvSpPr/>
          <p:nvPr/>
        </p:nvSpPr>
        <p:spPr>
          <a:xfrm>
            <a:off x="16634578" y="14431410"/>
            <a:ext cx="2103120" cy="103235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Century Gothic" panose="020B0502020202020204" pitchFamily="34" charset="0"/>
              </a:rPr>
              <a:t>IA </a:t>
            </a:r>
          </a:p>
          <a:p>
            <a:pPr algn="ctr"/>
            <a:r>
              <a:rPr lang="fr-FR" dirty="0">
                <a:latin typeface="Century Gothic" panose="020B0502020202020204" pitchFamily="34" charset="0"/>
              </a:rPr>
              <a:t>SPECIALISEES</a:t>
            </a:r>
          </a:p>
        </p:txBody>
      </p:sp>
      <p:cxnSp>
        <p:nvCxnSpPr>
          <p:cNvPr id="118" name="Connecteur droit avec flèche 117">
            <a:extLst>
              <a:ext uri="{FF2B5EF4-FFF2-40B4-BE49-F238E27FC236}">
                <a16:creationId xmlns:a16="http://schemas.microsoft.com/office/drawing/2014/main" id="{CC334497-2409-2693-1E8D-F7A56CCA49FF}"/>
              </a:ext>
            </a:extLst>
          </p:cNvPr>
          <p:cNvCxnSpPr>
            <a:cxnSpLocks/>
            <a:stCxn id="97" idx="3"/>
            <a:endCxn id="117" idx="1"/>
          </p:cNvCxnSpPr>
          <p:nvPr/>
        </p:nvCxnSpPr>
        <p:spPr>
          <a:xfrm>
            <a:off x="15651141" y="14947129"/>
            <a:ext cx="983437" cy="45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Rectangle : coins arrondis 121">
            <a:extLst>
              <a:ext uri="{FF2B5EF4-FFF2-40B4-BE49-F238E27FC236}">
                <a16:creationId xmlns:a16="http://schemas.microsoft.com/office/drawing/2014/main" id="{E942206E-3FC4-FACD-E8A6-752571927938}"/>
              </a:ext>
            </a:extLst>
          </p:cNvPr>
          <p:cNvSpPr/>
          <p:nvPr/>
        </p:nvSpPr>
        <p:spPr>
          <a:xfrm>
            <a:off x="19721135" y="14430493"/>
            <a:ext cx="2103120" cy="103327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KPI/KANBAN</a:t>
            </a:r>
          </a:p>
        </p:txBody>
      </p:sp>
      <p:cxnSp>
        <p:nvCxnSpPr>
          <p:cNvPr id="123" name="Connecteur droit avec flèche 122">
            <a:extLst>
              <a:ext uri="{FF2B5EF4-FFF2-40B4-BE49-F238E27FC236}">
                <a16:creationId xmlns:a16="http://schemas.microsoft.com/office/drawing/2014/main" id="{19BA2AB6-099C-DFC9-FA42-1ABF4E892349}"/>
              </a:ext>
            </a:extLst>
          </p:cNvPr>
          <p:cNvCxnSpPr>
            <a:cxnSpLocks/>
            <a:stCxn id="117" idx="3"/>
            <a:endCxn id="122" idx="1"/>
          </p:cNvCxnSpPr>
          <p:nvPr/>
        </p:nvCxnSpPr>
        <p:spPr>
          <a:xfrm flipV="1">
            <a:off x="18737698" y="14947129"/>
            <a:ext cx="983437" cy="45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Rectangle : coins arrondis 126">
            <a:extLst>
              <a:ext uri="{FF2B5EF4-FFF2-40B4-BE49-F238E27FC236}">
                <a16:creationId xmlns:a16="http://schemas.microsoft.com/office/drawing/2014/main" id="{CE3B6CB7-C29D-CB6F-7F81-E624A3489A92}"/>
              </a:ext>
            </a:extLst>
          </p:cNvPr>
          <p:cNvSpPr/>
          <p:nvPr/>
        </p:nvSpPr>
        <p:spPr>
          <a:xfrm>
            <a:off x="16634577" y="15826172"/>
            <a:ext cx="2103120" cy="103235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Century Gothic" panose="020B0502020202020204" pitchFamily="34" charset="0"/>
              </a:rPr>
              <a:t>IA </a:t>
            </a:r>
          </a:p>
          <a:p>
            <a:pPr algn="ctr"/>
            <a:r>
              <a:rPr lang="fr-FR" dirty="0">
                <a:latin typeface="Century Gothic" panose="020B0502020202020204" pitchFamily="34" charset="0"/>
              </a:rPr>
              <a:t>SPECIALISEES</a:t>
            </a:r>
          </a:p>
        </p:txBody>
      </p:sp>
      <p:cxnSp>
        <p:nvCxnSpPr>
          <p:cNvPr id="128" name="Connecteur droit avec flèche 127">
            <a:extLst>
              <a:ext uri="{FF2B5EF4-FFF2-40B4-BE49-F238E27FC236}">
                <a16:creationId xmlns:a16="http://schemas.microsoft.com/office/drawing/2014/main" id="{E19C6778-BE8D-1AAB-491A-75A8C876A6D9}"/>
              </a:ext>
            </a:extLst>
          </p:cNvPr>
          <p:cNvCxnSpPr>
            <a:cxnSpLocks/>
            <a:endCxn id="127" idx="1"/>
          </p:cNvCxnSpPr>
          <p:nvPr/>
        </p:nvCxnSpPr>
        <p:spPr>
          <a:xfrm>
            <a:off x="15651140" y="16341891"/>
            <a:ext cx="983437" cy="45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9" name="Rectangle : coins arrondis 128">
            <a:extLst>
              <a:ext uri="{FF2B5EF4-FFF2-40B4-BE49-F238E27FC236}">
                <a16:creationId xmlns:a16="http://schemas.microsoft.com/office/drawing/2014/main" id="{21D53069-0DEB-27F6-0D71-071C2FD0BE69}"/>
              </a:ext>
            </a:extLst>
          </p:cNvPr>
          <p:cNvSpPr/>
          <p:nvPr/>
        </p:nvSpPr>
        <p:spPr>
          <a:xfrm>
            <a:off x="19721134" y="15825255"/>
            <a:ext cx="2103120" cy="103327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KPI</a:t>
            </a:r>
          </a:p>
        </p:txBody>
      </p:sp>
      <p:cxnSp>
        <p:nvCxnSpPr>
          <p:cNvPr id="130" name="Connecteur droit avec flèche 129">
            <a:extLst>
              <a:ext uri="{FF2B5EF4-FFF2-40B4-BE49-F238E27FC236}">
                <a16:creationId xmlns:a16="http://schemas.microsoft.com/office/drawing/2014/main" id="{5AAD31A7-7451-38C4-EDEC-BBF361B2A53F}"/>
              </a:ext>
            </a:extLst>
          </p:cNvPr>
          <p:cNvCxnSpPr>
            <a:cxnSpLocks/>
            <a:stCxn id="127" idx="3"/>
            <a:endCxn id="129" idx="1"/>
          </p:cNvCxnSpPr>
          <p:nvPr/>
        </p:nvCxnSpPr>
        <p:spPr>
          <a:xfrm flipV="1">
            <a:off x="18737697" y="16341891"/>
            <a:ext cx="983437" cy="45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Connecteur : en angle 130">
            <a:extLst>
              <a:ext uri="{FF2B5EF4-FFF2-40B4-BE49-F238E27FC236}">
                <a16:creationId xmlns:a16="http://schemas.microsoft.com/office/drawing/2014/main" id="{61E0EDE2-6EF7-2570-AA03-26BADE10B817}"/>
              </a:ext>
            </a:extLst>
          </p:cNvPr>
          <p:cNvCxnSpPr>
            <a:cxnSpLocks/>
            <a:stCxn id="112" idx="2"/>
            <a:endCxn id="95" idx="3"/>
          </p:cNvCxnSpPr>
          <p:nvPr/>
        </p:nvCxnSpPr>
        <p:spPr>
          <a:xfrm rot="5400000">
            <a:off x="10054900" y="16284781"/>
            <a:ext cx="881252" cy="2034997"/>
          </a:xfrm>
          <a:prstGeom prst="bentConnector2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Connecteur droit avec flèche 133">
            <a:extLst>
              <a:ext uri="{FF2B5EF4-FFF2-40B4-BE49-F238E27FC236}">
                <a16:creationId xmlns:a16="http://schemas.microsoft.com/office/drawing/2014/main" id="{9753AF8F-0F29-2444-6313-E10AB4FCAABC}"/>
              </a:ext>
            </a:extLst>
          </p:cNvPr>
          <p:cNvCxnSpPr>
            <a:cxnSpLocks/>
            <a:stCxn id="112" idx="0"/>
            <a:endCxn id="96" idx="2"/>
          </p:cNvCxnSpPr>
          <p:nvPr/>
        </p:nvCxnSpPr>
        <p:spPr>
          <a:xfrm flipV="1">
            <a:off x="11513024" y="15463765"/>
            <a:ext cx="0" cy="3646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Rectangle : coins arrondis 136">
            <a:extLst>
              <a:ext uri="{FF2B5EF4-FFF2-40B4-BE49-F238E27FC236}">
                <a16:creationId xmlns:a16="http://schemas.microsoft.com/office/drawing/2014/main" id="{1398163F-DDB5-47A9-A93E-B3A03D5D3A47}"/>
              </a:ext>
            </a:extLst>
          </p:cNvPr>
          <p:cNvSpPr/>
          <p:nvPr/>
        </p:nvSpPr>
        <p:spPr>
          <a:xfrm>
            <a:off x="16142858" y="999032"/>
            <a:ext cx="2103120" cy="89001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Century Gothic" panose="020B0502020202020204" pitchFamily="34" charset="0"/>
              </a:rPr>
              <a:t>UTILISATEUR</a:t>
            </a:r>
          </a:p>
        </p:txBody>
      </p:sp>
      <p:sp>
        <p:nvSpPr>
          <p:cNvPr id="138" name="Rectangle : coins arrondis 137">
            <a:extLst>
              <a:ext uri="{FF2B5EF4-FFF2-40B4-BE49-F238E27FC236}">
                <a16:creationId xmlns:a16="http://schemas.microsoft.com/office/drawing/2014/main" id="{A30B176E-6F0E-1DAD-1478-82D81DF0381D}"/>
              </a:ext>
            </a:extLst>
          </p:cNvPr>
          <p:cNvSpPr/>
          <p:nvPr/>
        </p:nvSpPr>
        <p:spPr>
          <a:xfrm>
            <a:off x="16142858" y="2908068"/>
            <a:ext cx="2103120" cy="103327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Century Gothic" panose="020B0502020202020204" pitchFamily="34" charset="0"/>
              </a:rPr>
              <a:t>IA </a:t>
            </a:r>
          </a:p>
          <a:p>
            <a:pPr algn="ctr"/>
            <a:r>
              <a:rPr lang="fr-FR" dirty="0">
                <a:latin typeface="Century Gothic" panose="020B0502020202020204" pitchFamily="34" charset="0"/>
              </a:rPr>
              <a:t>MANAGER</a:t>
            </a:r>
          </a:p>
        </p:txBody>
      </p:sp>
      <p:cxnSp>
        <p:nvCxnSpPr>
          <p:cNvPr id="139" name="Connecteur droit avec flèche 138">
            <a:extLst>
              <a:ext uri="{FF2B5EF4-FFF2-40B4-BE49-F238E27FC236}">
                <a16:creationId xmlns:a16="http://schemas.microsoft.com/office/drawing/2014/main" id="{F2B31B3F-FC79-EEB5-95D8-0E9BE754E3AA}"/>
              </a:ext>
            </a:extLst>
          </p:cNvPr>
          <p:cNvCxnSpPr>
            <a:cxnSpLocks/>
            <a:stCxn id="137" idx="2"/>
            <a:endCxn id="138" idx="0"/>
          </p:cNvCxnSpPr>
          <p:nvPr/>
        </p:nvCxnSpPr>
        <p:spPr>
          <a:xfrm>
            <a:off x="17194418" y="1889048"/>
            <a:ext cx="0" cy="10190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ZoneTexte 139">
            <a:extLst>
              <a:ext uri="{FF2B5EF4-FFF2-40B4-BE49-F238E27FC236}">
                <a16:creationId xmlns:a16="http://schemas.microsoft.com/office/drawing/2014/main" id="{E1D849E8-0B7F-D1FE-2F70-D00D4E22D767}"/>
              </a:ext>
            </a:extLst>
          </p:cNvPr>
          <p:cNvSpPr txBox="1"/>
          <p:nvPr/>
        </p:nvSpPr>
        <p:spPr>
          <a:xfrm flipH="1">
            <a:off x="17194418" y="2228480"/>
            <a:ext cx="1316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📡DEMANDE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E6F0053-794C-565B-224E-4941DECD486E}"/>
              </a:ext>
            </a:extLst>
          </p:cNvPr>
          <p:cNvSpPr/>
          <p:nvPr/>
        </p:nvSpPr>
        <p:spPr>
          <a:xfrm>
            <a:off x="18629467" y="284312"/>
            <a:ext cx="466826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SUR VS CODE</a:t>
            </a:r>
          </a:p>
        </p:txBody>
      </p:sp>
      <p:sp>
        <p:nvSpPr>
          <p:cNvPr id="146" name="Rectangle : coins arrondis 145">
            <a:extLst>
              <a:ext uri="{FF2B5EF4-FFF2-40B4-BE49-F238E27FC236}">
                <a16:creationId xmlns:a16="http://schemas.microsoft.com/office/drawing/2014/main" id="{5C798187-FD20-E996-5A80-AA70C64CC267}"/>
              </a:ext>
            </a:extLst>
          </p:cNvPr>
          <p:cNvSpPr/>
          <p:nvPr/>
        </p:nvSpPr>
        <p:spPr>
          <a:xfrm>
            <a:off x="16142858" y="4960360"/>
            <a:ext cx="2103120" cy="1033272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Prompt dans « MD PROMPT »</a:t>
            </a:r>
          </a:p>
        </p:txBody>
      </p:sp>
      <p:cxnSp>
        <p:nvCxnSpPr>
          <p:cNvPr id="147" name="Connecteur droit avec flèche 146">
            <a:extLst>
              <a:ext uri="{FF2B5EF4-FFF2-40B4-BE49-F238E27FC236}">
                <a16:creationId xmlns:a16="http://schemas.microsoft.com/office/drawing/2014/main" id="{B205A90E-5BB4-4CFE-7F4A-C21F63A1AA1D}"/>
              </a:ext>
            </a:extLst>
          </p:cNvPr>
          <p:cNvCxnSpPr>
            <a:cxnSpLocks/>
            <a:stCxn id="138" idx="2"/>
            <a:endCxn id="146" idx="0"/>
          </p:cNvCxnSpPr>
          <p:nvPr/>
        </p:nvCxnSpPr>
        <p:spPr>
          <a:xfrm>
            <a:off x="17194418" y="3941340"/>
            <a:ext cx="0" cy="10190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Rectangle : coins arrondis 153">
            <a:extLst>
              <a:ext uri="{FF2B5EF4-FFF2-40B4-BE49-F238E27FC236}">
                <a16:creationId xmlns:a16="http://schemas.microsoft.com/office/drawing/2014/main" id="{4280B65D-5EEC-659C-40DF-3728EE699AD0}"/>
              </a:ext>
            </a:extLst>
          </p:cNvPr>
          <p:cNvSpPr/>
          <p:nvPr/>
        </p:nvSpPr>
        <p:spPr>
          <a:xfrm>
            <a:off x="19297538" y="4960360"/>
            <a:ext cx="2103120" cy="103327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Century Gothic" panose="020B0502020202020204" pitchFamily="34" charset="0"/>
              </a:rPr>
              <a:t>IA </a:t>
            </a:r>
          </a:p>
          <a:p>
            <a:pPr algn="ctr"/>
            <a:r>
              <a:rPr lang="fr-FR" dirty="0">
                <a:latin typeface="Century Gothic" panose="020B0502020202020204" pitchFamily="34" charset="0"/>
              </a:rPr>
              <a:t>MANAGER</a:t>
            </a:r>
          </a:p>
        </p:txBody>
      </p:sp>
      <p:cxnSp>
        <p:nvCxnSpPr>
          <p:cNvPr id="155" name="Connecteur droit avec flèche 154">
            <a:extLst>
              <a:ext uri="{FF2B5EF4-FFF2-40B4-BE49-F238E27FC236}">
                <a16:creationId xmlns:a16="http://schemas.microsoft.com/office/drawing/2014/main" id="{D12B349C-249F-58FF-FC4D-1755E1B73A12}"/>
              </a:ext>
            </a:extLst>
          </p:cNvPr>
          <p:cNvCxnSpPr>
            <a:cxnSpLocks/>
            <a:stCxn id="146" idx="3"/>
            <a:endCxn id="154" idx="1"/>
          </p:cNvCxnSpPr>
          <p:nvPr/>
        </p:nvCxnSpPr>
        <p:spPr>
          <a:xfrm>
            <a:off x="18245978" y="5476996"/>
            <a:ext cx="105156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Rectangle : coins arrondis 158">
            <a:extLst>
              <a:ext uri="{FF2B5EF4-FFF2-40B4-BE49-F238E27FC236}">
                <a16:creationId xmlns:a16="http://schemas.microsoft.com/office/drawing/2014/main" id="{4FA75A9D-9FA2-93E5-0772-BFDE4BD02ADB}"/>
              </a:ext>
            </a:extLst>
          </p:cNvPr>
          <p:cNvSpPr/>
          <p:nvPr/>
        </p:nvSpPr>
        <p:spPr>
          <a:xfrm>
            <a:off x="23701786" y="4960360"/>
            <a:ext cx="2103120" cy="1033272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MD TASK/KANBAN</a:t>
            </a:r>
          </a:p>
        </p:txBody>
      </p:sp>
      <p:cxnSp>
        <p:nvCxnSpPr>
          <p:cNvPr id="160" name="Connecteur droit avec flèche 159">
            <a:extLst>
              <a:ext uri="{FF2B5EF4-FFF2-40B4-BE49-F238E27FC236}">
                <a16:creationId xmlns:a16="http://schemas.microsoft.com/office/drawing/2014/main" id="{138EE946-D368-EE86-17A4-8BFB3DBD76F2}"/>
              </a:ext>
            </a:extLst>
          </p:cNvPr>
          <p:cNvCxnSpPr>
            <a:cxnSpLocks/>
            <a:stCxn id="154" idx="3"/>
            <a:endCxn id="159" idx="1"/>
          </p:cNvCxnSpPr>
          <p:nvPr/>
        </p:nvCxnSpPr>
        <p:spPr>
          <a:xfrm>
            <a:off x="21400658" y="5476996"/>
            <a:ext cx="230112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4" name="ZoneTexte 163">
            <a:extLst>
              <a:ext uri="{FF2B5EF4-FFF2-40B4-BE49-F238E27FC236}">
                <a16:creationId xmlns:a16="http://schemas.microsoft.com/office/drawing/2014/main" id="{5DC58642-EE7A-28B9-5A12-B9FCFC8A65E3}"/>
              </a:ext>
            </a:extLst>
          </p:cNvPr>
          <p:cNvSpPr txBox="1"/>
          <p:nvPr/>
        </p:nvSpPr>
        <p:spPr>
          <a:xfrm flipH="1">
            <a:off x="17312730" y="4279602"/>
            <a:ext cx="1316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📡TRADUIT</a:t>
            </a:r>
          </a:p>
        </p:txBody>
      </p:sp>
      <p:sp>
        <p:nvSpPr>
          <p:cNvPr id="165" name="ZoneTexte 164">
            <a:extLst>
              <a:ext uri="{FF2B5EF4-FFF2-40B4-BE49-F238E27FC236}">
                <a16:creationId xmlns:a16="http://schemas.microsoft.com/office/drawing/2014/main" id="{1179AB73-BC1C-5608-3EEE-F7E0D55629D9}"/>
              </a:ext>
            </a:extLst>
          </p:cNvPr>
          <p:cNvSpPr txBox="1"/>
          <p:nvPr/>
        </p:nvSpPr>
        <p:spPr>
          <a:xfrm flipH="1">
            <a:off x="21600949" y="5115506"/>
            <a:ext cx="1570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📡DERTERMINE</a:t>
            </a:r>
          </a:p>
        </p:txBody>
      </p:sp>
      <p:sp>
        <p:nvSpPr>
          <p:cNvPr id="166" name="ZoneTexte 165">
            <a:extLst>
              <a:ext uri="{FF2B5EF4-FFF2-40B4-BE49-F238E27FC236}">
                <a16:creationId xmlns:a16="http://schemas.microsoft.com/office/drawing/2014/main" id="{A5847F87-F170-7627-6162-D762C0FC3375}"/>
              </a:ext>
            </a:extLst>
          </p:cNvPr>
          <p:cNvSpPr txBox="1"/>
          <p:nvPr/>
        </p:nvSpPr>
        <p:spPr>
          <a:xfrm flipH="1">
            <a:off x="21600949" y="5580114"/>
            <a:ext cx="1570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📡ASSIGNE</a:t>
            </a:r>
          </a:p>
        </p:txBody>
      </p:sp>
      <p:grpSp>
        <p:nvGrpSpPr>
          <p:cNvPr id="170" name="Groupe 169">
            <a:extLst>
              <a:ext uri="{FF2B5EF4-FFF2-40B4-BE49-F238E27FC236}">
                <a16:creationId xmlns:a16="http://schemas.microsoft.com/office/drawing/2014/main" id="{03568B01-66B4-784D-1586-5F7C6F1EACDE}"/>
              </a:ext>
            </a:extLst>
          </p:cNvPr>
          <p:cNvGrpSpPr/>
          <p:nvPr/>
        </p:nvGrpSpPr>
        <p:grpSpPr>
          <a:xfrm>
            <a:off x="26576988" y="2608120"/>
            <a:ext cx="2103120" cy="5737752"/>
            <a:chOff x="26576988" y="2588921"/>
            <a:chExt cx="2103120" cy="5737752"/>
          </a:xfrm>
        </p:grpSpPr>
        <p:sp>
          <p:nvSpPr>
            <p:cNvPr id="151" name="Rectangle : coins arrondis 150">
              <a:extLst>
                <a:ext uri="{FF2B5EF4-FFF2-40B4-BE49-F238E27FC236}">
                  <a16:creationId xmlns:a16="http://schemas.microsoft.com/office/drawing/2014/main" id="{ED2C7C9F-78DE-5E44-BFBC-7FB6A81AD45B}"/>
                </a:ext>
              </a:extLst>
            </p:cNvPr>
            <p:cNvSpPr/>
            <p:nvPr/>
          </p:nvSpPr>
          <p:spPr>
            <a:xfrm>
              <a:off x="26576988" y="2588921"/>
              <a:ext cx="2103120" cy="1033272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Century Gothic" panose="020B0502020202020204" pitchFamily="34" charset="0"/>
                </a:rPr>
                <a:t>CODEX</a:t>
              </a:r>
            </a:p>
          </p:txBody>
        </p:sp>
        <p:sp>
          <p:nvSpPr>
            <p:cNvPr id="167" name="Rectangle : coins arrondis 166">
              <a:extLst>
                <a:ext uri="{FF2B5EF4-FFF2-40B4-BE49-F238E27FC236}">
                  <a16:creationId xmlns:a16="http://schemas.microsoft.com/office/drawing/2014/main" id="{3D71C055-214E-595F-A20E-562C131D0742}"/>
                </a:ext>
              </a:extLst>
            </p:cNvPr>
            <p:cNvSpPr/>
            <p:nvPr/>
          </p:nvSpPr>
          <p:spPr>
            <a:xfrm>
              <a:off x="26576988" y="4157081"/>
              <a:ext cx="2103120" cy="1033272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Century Gothic" panose="020B0502020202020204" pitchFamily="34" charset="0"/>
                </a:rPr>
                <a:t>CLAUDE</a:t>
              </a:r>
            </a:p>
          </p:txBody>
        </p:sp>
        <p:sp>
          <p:nvSpPr>
            <p:cNvPr id="168" name="Rectangle : coins arrondis 167">
              <a:extLst>
                <a:ext uri="{FF2B5EF4-FFF2-40B4-BE49-F238E27FC236}">
                  <a16:creationId xmlns:a16="http://schemas.microsoft.com/office/drawing/2014/main" id="{1AA7B2BE-0271-A7BD-1D0A-B0FE7CDA5AF3}"/>
                </a:ext>
              </a:extLst>
            </p:cNvPr>
            <p:cNvSpPr/>
            <p:nvPr/>
          </p:nvSpPr>
          <p:spPr>
            <a:xfrm>
              <a:off x="26576988" y="5725241"/>
              <a:ext cx="2103120" cy="1033272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Century Gothic" panose="020B0502020202020204" pitchFamily="34" charset="0"/>
                </a:rPr>
                <a:t>DEEPSEEK</a:t>
              </a:r>
            </a:p>
          </p:txBody>
        </p:sp>
        <p:sp>
          <p:nvSpPr>
            <p:cNvPr id="169" name="Rectangle : coins arrondis 168">
              <a:extLst>
                <a:ext uri="{FF2B5EF4-FFF2-40B4-BE49-F238E27FC236}">
                  <a16:creationId xmlns:a16="http://schemas.microsoft.com/office/drawing/2014/main" id="{2BB97C4A-5569-77B7-ADCA-A7D8EC67D45E}"/>
                </a:ext>
              </a:extLst>
            </p:cNvPr>
            <p:cNvSpPr/>
            <p:nvPr/>
          </p:nvSpPr>
          <p:spPr>
            <a:xfrm>
              <a:off x="26576988" y="7293401"/>
              <a:ext cx="2103120" cy="1033272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Century Gothic" panose="020B0502020202020204" pitchFamily="34" charset="0"/>
                </a:rPr>
                <a:t>QWER</a:t>
              </a:r>
            </a:p>
          </p:txBody>
        </p:sp>
      </p:grpSp>
      <p:cxnSp>
        <p:nvCxnSpPr>
          <p:cNvPr id="171" name="Connecteur : en angle 170">
            <a:extLst>
              <a:ext uri="{FF2B5EF4-FFF2-40B4-BE49-F238E27FC236}">
                <a16:creationId xmlns:a16="http://schemas.microsoft.com/office/drawing/2014/main" id="{AED9D3E4-E253-AABE-B207-9A58AA775407}"/>
              </a:ext>
            </a:extLst>
          </p:cNvPr>
          <p:cNvCxnSpPr>
            <a:cxnSpLocks/>
            <a:stCxn id="151" idx="1"/>
            <a:endCxn id="159" idx="0"/>
          </p:cNvCxnSpPr>
          <p:nvPr/>
        </p:nvCxnSpPr>
        <p:spPr>
          <a:xfrm rot="10800000" flipV="1">
            <a:off x="24753346" y="3124756"/>
            <a:ext cx="1823642" cy="1835604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Connecteur : en angle 173">
            <a:extLst>
              <a:ext uri="{FF2B5EF4-FFF2-40B4-BE49-F238E27FC236}">
                <a16:creationId xmlns:a16="http://schemas.microsoft.com/office/drawing/2014/main" id="{DE6C910C-ED9B-F700-B2BC-ECFF51425801}"/>
              </a:ext>
            </a:extLst>
          </p:cNvPr>
          <p:cNvCxnSpPr>
            <a:cxnSpLocks/>
            <a:stCxn id="169" idx="1"/>
            <a:endCxn id="159" idx="2"/>
          </p:cNvCxnSpPr>
          <p:nvPr/>
        </p:nvCxnSpPr>
        <p:spPr>
          <a:xfrm rot="10800000">
            <a:off x="24753346" y="5993632"/>
            <a:ext cx="1823642" cy="1835604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7" name="Connecteur : en angle 176">
            <a:extLst>
              <a:ext uri="{FF2B5EF4-FFF2-40B4-BE49-F238E27FC236}">
                <a16:creationId xmlns:a16="http://schemas.microsoft.com/office/drawing/2014/main" id="{A4D04948-255D-5CB2-C1D3-A7B6FFF6911A}"/>
              </a:ext>
            </a:extLst>
          </p:cNvPr>
          <p:cNvCxnSpPr>
            <a:cxnSpLocks/>
            <a:stCxn id="168" idx="1"/>
            <a:endCxn id="159" idx="2"/>
          </p:cNvCxnSpPr>
          <p:nvPr/>
        </p:nvCxnSpPr>
        <p:spPr>
          <a:xfrm rot="10800000">
            <a:off x="24753346" y="5993632"/>
            <a:ext cx="1823642" cy="267444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Connecteur : en angle 179">
            <a:extLst>
              <a:ext uri="{FF2B5EF4-FFF2-40B4-BE49-F238E27FC236}">
                <a16:creationId xmlns:a16="http://schemas.microsoft.com/office/drawing/2014/main" id="{65367244-82E1-96A8-4ECD-3F23D147EC1F}"/>
              </a:ext>
            </a:extLst>
          </p:cNvPr>
          <p:cNvCxnSpPr>
            <a:cxnSpLocks/>
            <a:stCxn id="167" idx="1"/>
            <a:endCxn id="159" idx="0"/>
          </p:cNvCxnSpPr>
          <p:nvPr/>
        </p:nvCxnSpPr>
        <p:spPr>
          <a:xfrm rot="10800000" flipV="1">
            <a:off x="24753346" y="4692916"/>
            <a:ext cx="1823642" cy="267444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3" name="Rectangle : coins arrondis 182">
            <a:extLst>
              <a:ext uri="{FF2B5EF4-FFF2-40B4-BE49-F238E27FC236}">
                <a16:creationId xmlns:a16="http://schemas.microsoft.com/office/drawing/2014/main" id="{2D9D88E3-9F2D-47D2-CAF7-403B599B090C}"/>
              </a:ext>
            </a:extLst>
          </p:cNvPr>
          <p:cNvSpPr/>
          <p:nvPr/>
        </p:nvSpPr>
        <p:spPr>
          <a:xfrm>
            <a:off x="30312694" y="4959253"/>
            <a:ext cx="2103120" cy="1033272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  <a:latin typeface="Century Gothic" panose="020B0502020202020204" pitchFamily="34" charset="0"/>
              </a:rPr>
              <a:t>MD TASK/KANBAN</a:t>
            </a:r>
          </a:p>
        </p:txBody>
      </p:sp>
      <p:cxnSp>
        <p:nvCxnSpPr>
          <p:cNvPr id="184" name="Connecteur : en angle 183">
            <a:extLst>
              <a:ext uri="{FF2B5EF4-FFF2-40B4-BE49-F238E27FC236}">
                <a16:creationId xmlns:a16="http://schemas.microsoft.com/office/drawing/2014/main" id="{E063D9D7-CA5D-3253-54CC-17F64CD1F64C}"/>
              </a:ext>
            </a:extLst>
          </p:cNvPr>
          <p:cNvCxnSpPr>
            <a:cxnSpLocks/>
            <a:stCxn id="183" idx="0"/>
            <a:endCxn id="151" idx="3"/>
          </p:cNvCxnSpPr>
          <p:nvPr/>
        </p:nvCxnSpPr>
        <p:spPr>
          <a:xfrm rot="16200000" flipV="1">
            <a:off x="29104933" y="2699932"/>
            <a:ext cx="1834497" cy="2684146"/>
          </a:xfrm>
          <a:prstGeom prst="bentConnector2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7" name="Connecteur : en angle 186">
            <a:extLst>
              <a:ext uri="{FF2B5EF4-FFF2-40B4-BE49-F238E27FC236}">
                <a16:creationId xmlns:a16="http://schemas.microsoft.com/office/drawing/2014/main" id="{F4D33797-0FEE-E9A8-4243-9EB54839D28B}"/>
              </a:ext>
            </a:extLst>
          </p:cNvPr>
          <p:cNvCxnSpPr>
            <a:cxnSpLocks/>
            <a:stCxn id="183" idx="2"/>
            <a:endCxn id="169" idx="3"/>
          </p:cNvCxnSpPr>
          <p:nvPr/>
        </p:nvCxnSpPr>
        <p:spPr>
          <a:xfrm rot="5400000">
            <a:off x="29103826" y="5568807"/>
            <a:ext cx="1836711" cy="2684146"/>
          </a:xfrm>
          <a:prstGeom prst="bentConnector2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Connecteur : en angle 190">
            <a:extLst>
              <a:ext uri="{FF2B5EF4-FFF2-40B4-BE49-F238E27FC236}">
                <a16:creationId xmlns:a16="http://schemas.microsoft.com/office/drawing/2014/main" id="{B37BF3DF-EBAB-BB18-6E7E-B39AA2B47362}"/>
              </a:ext>
            </a:extLst>
          </p:cNvPr>
          <p:cNvCxnSpPr>
            <a:cxnSpLocks/>
            <a:stCxn id="183" idx="0"/>
            <a:endCxn id="167" idx="3"/>
          </p:cNvCxnSpPr>
          <p:nvPr/>
        </p:nvCxnSpPr>
        <p:spPr>
          <a:xfrm rot="16200000" flipV="1">
            <a:off x="29889013" y="3484012"/>
            <a:ext cx="266337" cy="2684146"/>
          </a:xfrm>
          <a:prstGeom prst="bentConnector2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Connecteur : en angle 193">
            <a:extLst>
              <a:ext uri="{FF2B5EF4-FFF2-40B4-BE49-F238E27FC236}">
                <a16:creationId xmlns:a16="http://schemas.microsoft.com/office/drawing/2014/main" id="{3C7E22E2-1817-C3C6-1EB6-EBEA23CF5EE7}"/>
              </a:ext>
            </a:extLst>
          </p:cNvPr>
          <p:cNvCxnSpPr>
            <a:cxnSpLocks/>
            <a:stCxn id="183" idx="2"/>
            <a:endCxn id="168" idx="3"/>
          </p:cNvCxnSpPr>
          <p:nvPr/>
        </p:nvCxnSpPr>
        <p:spPr>
          <a:xfrm rot="5400000">
            <a:off x="29887906" y="4784727"/>
            <a:ext cx="268551" cy="2684146"/>
          </a:xfrm>
          <a:prstGeom prst="bentConnector2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7" name="ZoneTexte 196">
            <a:extLst>
              <a:ext uri="{FF2B5EF4-FFF2-40B4-BE49-F238E27FC236}">
                <a16:creationId xmlns:a16="http://schemas.microsoft.com/office/drawing/2014/main" id="{30EAEA86-FD17-2313-C4CC-F382FA4431F8}"/>
              </a:ext>
            </a:extLst>
          </p:cNvPr>
          <p:cNvSpPr txBox="1"/>
          <p:nvPr/>
        </p:nvSpPr>
        <p:spPr>
          <a:xfrm flipH="1">
            <a:off x="24759597" y="2754179"/>
            <a:ext cx="1570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📡LIS</a:t>
            </a:r>
          </a:p>
        </p:txBody>
      </p:sp>
      <p:sp>
        <p:nvSpPr>
          <p:cNvPr id="198" name="ZoneTexte 197">
            <a:extLst>
              <a:ext uri="{FF2B5EF4-FFF2-40B4-BE49-F238E27FC236}">
                <a16:creationId xmlns:a16="http://schemas.microsoft.com/office/drawing/2014/main" id="{33881B23-2AF1-07E8-7BCD-FF64986DF99A}"/>
              </a:ext>
            </a:extLst>
          </p:cNvPr>
          <p:cNvSpPr txBox="1"/>
          <p:nvPr/>
        </p:nvSpPr>
        <p:spPr>
          <a:xfrm flipH="1">
            <a:off x="29115697" y="2658739"/>
            <a:ext cx="1570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📡REALISE</a:t>
            </a:r>
          </a:p>
        </p:txBody>
      </p:sp>
      <p:sp>
        <p:nvSpPr>
          <p:cNvPr id="199" name="ZoneTexte 198">
            <a:extLst>
              <a:ext uri="{FF2B5EF4-FFF2-40B4-BE49-F238E27FC236}">
                <a16:creationId xmlns:a16="http://schemas.microsoft.com/office/drawing/2014/main" id="{6911A13A-C1DD-AFE9-8CF8-57D631681827}"/>
              </a:ext>
            </a:extLst>
          </p:cNvPr>
          <p:cNvSpPr txBox="1"/>
          <p:nvPr/>
        </p:nvSpPr>
        <p:spPr>
          <a:xfrm flipH="1">
            <a:off x="31130765" y="3971825"/>
            <a:ext cx="1570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📡KPI</a:t>
            </a:r>
          </a:p>
        </p:txBody>
      </p:sp>
      <p:cxnSp>
        <p:nvCxnSpPr>
          <p:cNvPr id="200" name="Connecteur : en angle 199">
            <a:extLst>
              <a:ext uri="{FF2B5EF4-FFF2-40B4-BE49-F238E27FC236}">
                <a16:creationId xmlns:a16="http://schemas.microsoft.com/office/drawing/2014/main" id="{9F9CF015-743D-7D3A-C92D-53DC30B92CE6}"/>
              </a:ext>
            </a:extLst>
          </p:cNvPr>
          <p:cNvCxnSpPr>
            <a:cxnSpLocks/>
            <a:stCxn id="154" idx="2"/>
            <a:endCxn id="183" idx="3"/>
          </p:cNvCxnSpPr>
          <p:nvPr/>
        </p:nvCxnSpPr>
        <p:spPr>
          <a:xfrm rot="5400000" flipH="1" flipV="1">
            <a:off x="26123584" y="-298597"/>
            <a:ext cx="517743" cy="12066716"/>
          </a:xfrm>
          <a:prstGeom prst="bentConnector4">
            <a:avLst>
              <a:gd name="adj1" fmla="val -652486"/>
              <a:gd name="adj2" fmla="val 101894"/>
            </a:avLst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4" name="ZoneTexte 203">
            <a:extLst>
              <a:ext uri="{FF2B5EF4-FFF2-40B4-BE49-F238E27FC236}">
                <a16:creationId xmlns:a16="http://schemas.microsoft.com/office/drawing/2014/main" id="{D4993013-EBE3-7575-54AA-F99F7AF332ED}"/>
              </a:ext>
            </a:extLst>
          </p:cNvPr>
          <p:cNvSpPr txBox="1"/>
          <p:nvPr/>
        </p:nvSpPr>
        <p:spPr>
          <a:xfrm flipH="1">
            <a:off x="25791937" y="8929384"/>
            <a:ext cx="1570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📡PUSH</a:t>
            </a:r>
          </a:p>
        </p:txBody>
      </p:sp>
    </p:spTree>
    <p:extLst>
      <p:ext uri="{BB962C8B-B14F-4D97-AF65-F5344CB8AC3E}">
        <p14:creationId xmlns:p14="http://schemas.microsoft.com/office/powerpoint/2010/main" val="1754615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B85EBE08-3FA5-DFDE-5E78-80830EEBDA5E}"/>
              </a:ext>
            </a:extLst>
          </p:cNvPr>
          <p:cNvSpPr/>
          <p:nvPr/>
        </p:nvSpPr>
        <p:spPr>
          <a:xfrm>
            <a:off x="12547258" y="2450720"/>
            <a:ext cx="3714750" cy="695325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latin typeface="Century Gothic" panose="020B0502020202020204" pitchFamily="34" charset="0"/>
              </a:rPr>
              <a:t>Conversation</a:t>
            </a:r>
          </a:p>
          <a:p>
            <a:pPr algn="ctr"/>
            <a:r>
              <a:rPr lang="fr-FR" sz="3600" dirty="0">
                <a:latin typeface="Century Gothic" panose="020B0502020202020204" pitchFamily="34" charset="0"/>
              </a:rPr>
              <a:t> INTER IA</a:t>
            </a:r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9FE79D65-DE84-C8BD-9ADD-96C6D056C839}"/>
              </a:ext>
            </a:extLst>
          </p:cNvPr>
          <p:cNvGrpSpPr/>
          <p:nvPr/>
        </p:nvGrpSpPr>
        <p:grpSpPr>
          <a:xfrm>
            <a:off x="21319188" y="3490269"/>
            <a:ext cx="2103120" cy="5737752"/>
            <a:chOff x="26576988" y="2588921"/>
            <a:chExt cx="2103120" cy="5737752"/>
          </a:xfrm>
        </p:grpSpPr>
        <p:sp>
          <p:nvSpPr>
            <p:cNvPr id="43" name="Rectangle : coins arrondis 42">
              <a:extLst>
                <a:ext uri="{FF2B5EF4-FFF2-40B4-BE49-F238E27FC236}">
                  <a16:creationId xmlns:a16="http://schemas.microsoft.com/office/drawing/2014/main" id="{5DCE8EEA-8303-B090-A915-3F7B4D219D5F}"/>
                </a:ext>
              </a:extLst>
            </p:cNvPr>
            <p:cNvSpPr/>
            <p:nvPr/>
          </p:nvSpPr>
          <p:spPr>
            <a:xfrm>
              <a:off x="26576988" y="2588921"/>
              <a:ext cx="2103120" cy="1033272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Century Gothic" panose="020B0502020202020204" pitchFamily="34" charset="0"/>
                </a:rPr>
                <a:t>CODEX</a:t>
              </a:r>
            </a:p>
          </p:txBody>
        </p:sp>
        <p:sp>
          <p:nvSpPr>
            <p:cNvPr id="44" name="Rectangle : coins arrondis 43">
              <a:extLst>
                <a:ext uri="{FF2B5EF4-FFF2-40B4-BE49-F238E27FC236}">
                  <a16:creationId xmlns:a16="http://schemas.microsoft.com/office/drawing/2014/main" id="{F85CAAB7-6D74-ADEC-86DF-83F75305A89B}"/>
                </a:ext>
              </a:extLst>
            </p:cNvPr>
            <p:cNvSpPr/>
            <p:nvPr/>
          </p:nvSpPr>
          <p:spPr>
            <a:xfrm>
              <a:off x="26576988" y="4157081"/>
              <a:ext cx="2103120" cy="1033272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Century Gothic" panose="020B0502020202020204" pitchFamily="34" charset="0"/>
                </a:rPr>
                <a:t>CLAUDE</a:t>
              </a:r>
            </a:p>
          </p:txBody>
        </p:sp>
        <p:sp>
          <p:nvSpPr>
            <p:cNvPr id="45" name="Rectangle : coins arrondis 44">
              <a:extLst>
                <a:ext uri="{FF2B5EF4-FFF2-40B4-BE49-F238E27FC236}">
                  <a16:creationId xmlns:a16="http://schemas.microsoft.com/office/drawing/2014/main" id="{83D5350D-18CF-448A-43B4-A480AAF5B077}"/>
                </a:ext>
              </a:extLst>
            </p:cNvPr>
            <p:cNvSpPr/>
            <p:nvPr/>
          </p:nvSpPr>
          <p:spPr>
            <a:xfrm>
              <a:off x="26576988" y="5725241"/>
              <a:ext cx="2103120" cy="1033272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Century Gothic" panose="020B0502020202020204" pitchFamily="34" charset="0"/>
                </a:rPr>
                <a:t>DEEPSEEK</a:t>
              </a:r>
            </a:p>
          </p:txBody>
        </p:sp>
        <p:sp>
          <p:nvSpPr>
            <p:cNvPr id="46" name="Rectangle : coins arrondis 45">
              <a:extLst>
                <a:ext uri="{FF2B5EF4-FFF2-40B4-BE49-F238E27FC236}">
                  <a16:creationId xmlns:a16="http://schemas.microsoft.com/office/drawing/2014/main" id="{E10BFBCB-AFB9-D57C-2219-0E0A59380B4E}"/>
                </a:ext>
              </a:extLst>
            </p:cNvPr>
            <p:cNvSpPr/>
            <p:nvPr/>
          </p:nvSpPr>
          <p:spPr>
            <a:xfrm>
              <a:off x="26576988" y="7293401"/>
              <a:ext cx="2103120" cy="1033272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Century Gothic" panose="020B0502020202020204" pitchFamily="34" charset="0"/>
                </a:rPr>
                <a:t>QWER</a:t>
              </a:r>
            </a:p>
          </p:txBody>
        </p:sp>
      </p:grp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FE7EBC50-795F-803B-6853-5357D2224385}"/>
              </a:ext>
            </a:extLst>
          </p:cNvPr>
          <p:cNvSpPr/>
          <p:nvPr/>
        </p:nvSpPr>
        <p:spPr>
          <a:xfrm>
            <a:off x="7995808" y="1653072"/>
            <a:ext cx="2103120" cy="89001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Century Gothic" panose="020B0502020202020204" pitchFamily="34" charset="0"/>
              </a:rPr>
              <a:t>UTILISATEUR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CDD5641D-4171-5591-49B1-5B76CC5FBA55}"/>
              </a:ext>
            </a:extLst>
          </p:cNvPr>
          <p:cNvSpPr/>
          <p:nvPr/>
        </p:nvSpPr>
        <p:spPr>
          <a:xfrm>
            <a:off x="7995808" y="3562108"/>
            <a:ext cx="2103120" cy="103327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Century Gothic" panose="020B0502020202020204" pitchFamily="34" charset="0"/>
              </a:rPr>
              <a:t>IA </a:t>
            </a:r>
          </a:p>
          <a:p>
            <a:pPr algn="ctr"/>
            <a:r>
              <a:rPr lang="fr-FR" dirty="0">
                <a:latin typeface="Century Gothic" panose="020B0502020202020204" pitchFamily="34" charset="0"/>
              </a:rPr>
              <a:t>MANAGER</a:t>
            </a:r>
          </a:p>
        </p:txBody>
      </p: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7C049DB3-2406-C242-390D-CE90F46EEEB4}"/>
              </a:ext>
            </a:extLst>
          </p:cNvPr>
          <p:cNvCxnSpPr>
            <a:cxnSpLocks/>
            <a:stCxn id="47" idx="2"/>
            <a:endCxn id="48" idx="0"/>
          </p:cNvCxnSpPr>
          <p:nvPr/>
        </p:nvCxnSpPr>
        <p:spPr>
          <a:xfrm>
            <a:off x="9047368" y="2543088"/>
            <a:ext cx="0" cy="10190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ZoneTexte 49">
            <a:extLst>
              <a:ext uri="{FF2B5EF4-FFF2-40B4-BE49-F238E27FC236}">
                <a16:creationId xmlns:a16="http://schemas.microsoft.com/office/drawing/2014/main" id="{004E49EC-F54F-185B-F530-80B57B45F9DC}"/>
              </a:ext>
            </a:extLst>
          </p:cNvPr>
          <p:cNvSpPr txBox="1"/>
          <p:nvPr/>
        </p:nvSpPr>
        <p:spPr>
          <a:xfrm flipH="1">
            <a:off x="9047368" y="2882520"/>
            <a:ext cx="1316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📡DEMANDE</a:t>
            </a:r>
          </a:p>
        </p:txBody>
      </p: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1C682440-2C2E-F1DC-41C7-57271E435CB6}"/>
              </a:ext>
            </a:extLst>
          </p:cNvPr>
          <p:cNvCxnSpPr>
            <a:cxnSpLocks/>
            <a:stCxn id="48" idx="3"/>
          </p:cNvCxnSpPr>
          <p:nvPr/>
        </p:nvCxnSpPr>
        <p:spPr>
          <a:xfrm>
            <a:off x="10098928" y="4078744"/>
            <a:ext cx="300917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DF8617CA-FDCA-4265-547E-4293AA472844}"/>
              </a:ext>
            </a:extLst>
          </p:cNvPr>
          <p:cNvSpPr txBox="1"/>
          <p:nvPr/>
        </p:nvSpPr>
        <p:spPr>
          <a:xfrm flipH="1">
            <a:off x="10551954" y="3657412"/>
            <a:ext cx="21031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📡Rédige et assigne </a:t>
            </a:r>
          </a:p>
          <a:p>
            <a:pPr algn="ctr"/>
            <a:endParaRPr lang="fr-FR" sz="1400" dirty="0">
              <a:latin typeface="Century Gothic" panose="020B0502020202020204" pitchFamily="34" charset="0"/>
            </a:endParaRPr>
          </a:p>
          <a:p>
            <a:pPr algn="ctr"/>
            <a:r>
              <a:rPr lang="fr-FR" sz="1400" dirty="0">
                <a:latin typeface="Century Gothic" panose="020B0502020202020204" pitchFamily="34" charset="0"/>
              </a:rPr>
              <a:t>la tâche</a:t>
            </a:r>
          </a:p>
        </p:txBody>
      </p: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74E02909-4301-34CC-51FC-B10F96BD8209}"/>
              </a:ext>
            </a:extLst>
          </p:cNvPr>
          <p:cNvCxnSpPr>
            <a:cxnSpLocks/>
          </p:cNvCxnSpPr>
          <p:nvPr/>
        </p:nvCxnSpPr>
        <p:spPr>
          <a:xfrm>
            <a:off x="16754268" y="4060492"/>
            <a:ext cx="4209320" cy="182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ZoneTexte 53">
            <a:extLst>
              <a:ext uri="{FF2B5EF4-FFF2-40B4-BE49-F238E27FC236}">
                <a16:creationId xmlns:a16="http://schemas.microsoft.com/office/drawing/2014/main" id="{09ACEB7D-2BD5-74C9-70C0-A45F39D38DFC}"/>
              </a:ext>
            </a:extLst>
          </p:cNvPr>
          <p:cNvSpPr txBox="1"/>
          <p:nvPr/>
        </p:nvSpPr>
        <p:spPr>
          <a:xfrm flipH="1">
            <a:off x="17136236" y="3637573"/>
            <a:ext cx="21031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📡Auto </a:t>
            </a:r>
            <a:r>
              <a:rPr lang="fr-FR" sz="1400" dirty="0" err="1">
                <a:latin typeface="Century Gothic" panose="020B0502020202020204" pitchFamily="34" charset="0"/>
              </a:rPr>
              <a:t>bash</a:t>
            </a:r>
            <a:endParaRPr lang="fr-FR" sz="1400" dirty="0">
              <a:latin typeface="Century Gothic" panose="020B0502020202020204" pitchFamily="34" charset="0"/>
            </a:endParaRPr>
          </a:p>
          <a:p>
            <a:pPr algn="ctr"/>
            <a:endParaRPr lang="fr-FR" sz="1400" dirty="0">
              <a:latin typeface="Century Gothic" panose="020B0502020202020204" pitchFamily="34" charset="0"/>
            </a:endParaRPr>
          </a:p>
          <a:p>
            <a:pPr algn="ctr"/>
            <a:r>
              <a:rPr lang="fr-FR" sz="1400" dirty="0">
                <a:latin typeface="Century Gothic" panose="020B0502020202020204" pitchFamily="34" charset="0"/>
              </a:rPr>
              <a:t>Lecture de la tâche</a:t>
            </a:r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3B6BEFE1-47F8-F83D-4D8C-CD200AFE175F}"/>
              </a:ext>
            </a:extLst>
          </p:cNvPr>
          <p:cNvSpPr/>
          <p:nvPr/>
        </p:nvSpPr>
        <p:spPr>
          <a:xfrm>
            <a:off x="21005800" y="3190297"/>
            <a:ext cx="2755900" cy="640535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E9B04E44-2BBD-9552-E36E-C6C0B1E6A368}"/>
              </a:ext>
            </a:extLst>
          </p:cNvPr>
          <p:cNvCxnSpPr>
            <a:cxnSpLocks/>
          </p:cNvCxnSpPr>
          <p:nvPr/>
        </p:nvCxnSpPr>
        <p:spPr>
          <a:xfrm flipH="1">
            <a:off x="16822848" y="8318500"/>
            <a:ext cx="418295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D8349CEC-5D3D-B347-B63E-C502FF47A0A4}"/>
              </a:ext>
            </a:extLst>
          </p:cNvPr>
          <p:cNvSpPr txBox="1"/>
          <p:nvPr/>
        </p:nvSpPr>
        <p:spPr>
          <a:xfrm flipH="1">
            <a:off x="17807369" y="7949168"/>
            <a:ext cx="21031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📡détecte sa tâche</a:t>
            </a:r>
          </a:p>
          <a:p>
            <a:pPr algn="ctr"/>
            <a:endParaRPr lang="fr-FR" sz="1400" dirty="0">
              <a:latin typeface="Century Gothic" panose="020B0502020202020204" pitchFamily="34" charset="0"/>
            </a:endParaRPr>
          </a:p>
          <a:p>
            <a:pPr algn="ctr"/>
            <a:r>
              <a:rPr lang="fr-FR" sz="1400" dirty="0">
                <a:latin typeface="Century Gothic" panose="020B0502020202020204" pitchFamily="34" charset="0"/>
              </a:rPr>
              <a:t>Remplis les KPI</a:t>
            </a:r>
          </a:p>
        </p:txBody>
      </p:sp>
      <p:cxnSp>
        <p:nvCxnSpPr>
          <p:cNvPr id="58" name="Connecteur : en angle 57">
            <a:extLst>
              <a:ext uri="{FF2B5EF4-FFF2-40B4-BE49-F238E27FC236}">
                <a16:creationId xmlns:a16="http://schemas.microsoft.com/office/drawing/2014/main" id="{F64E7126-C3C0-EFD5-9720-7B1C09D2F052}"/>
              </a:ext>
            </a:extLst>
          </p:cNvPr>
          <p:cNvCxnSpPr>
            <a:cxnSpLocks/>
            <a:endCxn id="48" idx="2"/>
          </p:cNvCxnSpPr>
          <p:nvPr/>
        </p:nvCxnSpPr>
        <p:spPr>
          <a:xfrm rot="10800000">
            <a:off x="9047368" y="4595380"/>
            <a:ext cx="4060730" cy="3926320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ZoneTexte 58">
            <a:extLst>
              <a:ext uri="{FF2B5EF4-FFF2-40B4-BE49-F238E27FC236}">
                <a16:creationId xmlns:a16="http://schemas.microsoft.com/office/drawing/2014/main" id="{A1A5AD12-488B-C703-969A-B0AA15B04FC0}"/>
              </a:ext>
            </a:extLst>
          </p:cNvPr>
          <p:cNvSpPr txBox="1"/>
          <p:nvPr/>
        </p:nvSpPr>
        <p:spPr>
          <a:xfrm flipH="1">
            <a:off x="9909667" y="8152368"/>
            <a:ext cx="21031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📡Auto </a:t>
            </a:r>
            <a:r>
              <a:rPr lang="fr-FR" sz="1400" dirty="0" err="1">
                <a:latin typeface="Century Gothic" panose="020B0502020202020204" pitchFamily="34" charset="0"/>
              </a:rPr>
              <a:t>bash</a:t>
            </a:r>
            <a:endParaRPr lang="fr-FR" sz="1400" dirty="0">
              <a:latin typeface="Century Gothic" panose="020B0502020202020204" pitchFamily="34" charset="0"/>
            </a:endParaRPr>
          </a:p>
          <a:p>
            <a:pPr algn="ctr"/>
            <a:endParaRPr lang="fr-FR" sz="1400" dirty="0">
              <a:latin typeface="Century Gothic" panose="020B0502020202020204" pitchFamily="34" charset="0"/>
            </a:endParaRPr>
          </a:p>
          <a:p>
            <a:pPr algn="ctr"/>
            <a:r>
              <a:rPr lang="fr-FR" sz="1400" dirty="0">
                <a:latin typeface="Century Gothic" panose="020B0502020202020204" pitchFamily="34" charset="0"/>
              </a:rPr>
              <a:t>Détection des KPI</a:t>
            </a:r>
          </a:p>
        </p:txBody>
      </p:sp>
    </p:spTree>
    <p:extLst>
      <p:ext uri="{BB962C8B-B14F-4D97-AF65-F5344CB8AC3E}">
        <p14:creationId xmlns:p14="http://schemas.microsoft.com/office/powerpoint/2010/main" val="335533305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312</TotalTime>
  <Words>178</Words>
  <Application>Microsoft Office PowerPoint</Application>
  <PresentationFormat>Personnalisé</PresentationFormat>
  <Paragraphs>95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Century Gothic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 CAYLUS</dc:creator>
  <cp:lastModifiedBy>Christophe CAYLUS</cp:lastModifiedBy>
  <cp:revision>2</cp:revision>
  <dcterms:created xsi:type="dcterms:W3CDTF">2026-04-14T11:42:57Z</dcterms:created>
  <dcterms:modified xsi:type="dcterms:W3CDTF">2026-04-18T07:18:56Z</dcterms:modified>
</cp:coreProperties>
</file>